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alibri" panose="020F0502020204030204" pitchFamily="34" charset="0"/>
      <p:regular r:id="rId23"/>
      <p:bold r:id="rId24"/>
      <p:italic r:id="rId25"/>
      <p:boldItalic r:id="rId26"/>
    </p:embeddedFont>
    <p:embeddedFont>
      <p:font typeface="Canva Sans" panose="020B0604020202020204" charset="0"/>
      <p:regular r:id="rId27"/>
    </p:embeddedFont>
    <p:embeddedFont>
      <p:font typeface="Canva Sans Bold" panose="020B0604020202020204" charset="0"/>
      <p:regular r:id="rId28"/>
    </p:embeddedFont>
    <p:embeddedFont>
      <p:font typeface="DM Sans" panose="020B0604020202020204" charset="0"/>
      <p:regular r:id="rId29"/>
    </p:embeddedFont>
    <p:embeddedFont>
      <p:font typeface="DM Sans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86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a:off x="11481851" y="460274"/>
            <a:ext cx="3751341" cy="3549706"/>
          </a:xfrm>
          <a:custGeom>
            <a:avLst/>
            <a:gdLst/>
            <a:ahLst/>
            <a:cxnLst/>
            <a:rect l="l" t="t" r="r" b="b"/>
            <a:pathLst>
              <a:path w="3751341" h="3549706">
                <a:moveTo>
                  <a:pt x="0" y="0"/>
                </a:moveTo>
                <a:lnTo>
                  <a:pt x="3751341" y="0"/>
                </a:lnTo>
                <a:lnTo>
                  <a:pt x="3751341" y="3549706"/>
                </a:lnTo>
                <a:lnTo>
                  <a:pt x="0" y="3549706"/>
                </a:lnTo>
                <a:lnTo>
                  <a:pt x="0" y="0"/>
                </a:lnTo>
                <a:close/>
              </a:path>
            </a:pathLst>
          </a:custGeom>
          <a:blipFill>
            <a:blip r:embed="rId2"/>
            <a:stretch>
              <a:fillRect/>
            </a:stretch>
          </a:blipFill>
        </p:spPr>
      </p:sp>
      <p:sp>
        <p:nvSpPr>
          <p:cNvPr id="3" name="TextBox 3"/>
          <p:cNvSpPr txBox="1"/>
          <p:nvPr/>
        </p:nvSpPr>
        <p:spPr>
          <a:xfrm>
            <a:off x="1341691" y="4196590"/>
            <a:ext cx="10140161" cy="1276350"/>
          </a:xfrm>
          <a:prstGeom prst="rect">
            <a:avLst/>
          </a:prstGeom>
        </p:spPr>
        <p:txBody>
          <a:bodyPr lIns="0" tIns="0" rIns="0" bIns="0" rtlCol="0" anchor="t">
            <a:spAutoFit/>
          </a:bodyPr>
          <a:lstStyle/>
          <a:p>
            <a:pPr>
              <a:lnSpc>
                <a:spcPts val="10199"/>
              </a:lnSpc>
            </a:pPr>
            <a:r>
              <a:rPr lang="en-US" sz="8499">
                <a:solidFill>
                  <a:srgbClr val="292929"/>
                </a:solidFill>
                <a:latin typeface="DM Sans Bold"/>
              </a:rPr>
              <a:t>Bank CRM Analysis</a:t>
            </a:r>
          </a:p>
        </p:txBody>
      </p:sp>
      <p:sp>
        <p:nvSpPr>
          <p:cNvPr id="6" name="TextBox 6"/>
          <p:cNvSpPr txBox="1"/>
          <p:nvPr/>
        </p:nvSpPr>
        <p:spPr>
          <a:xfrm>
            <a:off x="3185726" y="6691093"/>
            <a:ext cx="6452090" cy="377349"/>
          </a:xfrm>
          <a:prstGeom prst="rect">
            <a:avLst/>
          </a:prstGeom>
        </p:spPr>
        <p:txBody>
          <a:bodyPr lIns="0" tIns="0" rIns="0" bIns="0" rtlCol="0" anchor="t">
            <a:spAutoFit/>
          </a:bodyPr>
          <a:lstStyle/>
          <a:p>
            <a:pPr>
              <a:lnSpc>
                <a:spcPts val="3219"/>
              </a:lnSpc>
            </a:pPr>
            <a:endParaRPr/>
          </a:p>
        </p:txBody>
      </p:sp>
      <p:sp>
        <p:nvSpPr>
          <p:cNvPr id="7" name="Freeform 7"/>
          <p:cNvSpPr/>
          <p:nvPr/>
        </p:nvSpPr>
        <p:spPr>
          <a:xfrm>
            <a:off x="13294349" y="1921142"/>
            <a:ext cx="4432549" cy="4177677"/>
          </a:xfrm>
          <a:custGeom>
            <a:avLst/>
            <a:gdLst/>
            <a:ahLst/>
            <a:cxnLst/>
            <a:rect l="l" t="t" r="r" b="b"/>
            <a:pathLst>
              <a:path w="4432549" h="4177677">
                <a:moveTo>
                  <a:pt x="0" y="0"/>
                </a:moveTo>
                <a:lnTo>
                  <a:pt x="4432549" y="0"/>
                </a:lnTo>
                <a:lnTo>
                  <a:pt x="4432549" y="4177677"/>
                </a:lnTo>
                <a:lnTo>
                  <a:pt x="0" y="4177677"/>
                </a:lnTo>
                <a:lnTo>
                  <a:pt x="0" y="0"/>
                </a:lnTo>
                <a:close/>
              </a:path>
            </a:pathLst>
          </a:custGeom>
          <a:blipFill>
            <a:blip r:embed="rId3"/>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2210000" y="2066925"/>
            <a:ext cx="4571400" cy="1428750"/>
          </a:xfrm>
          <a:prstGeom prst="rect">
            <a:avLst/>
          </a:prstGeom>
        </p:spPr>
        <p:txBody>
          <a:bodyPr lIns="0" tIns="0" rIns="0" bIns="0" rtlCol="0" anchor="t">
            <a:spAutoFit/>
          </a:bodyPr>
          <a:lstStyle/>
          <a:p>
            <a:pPr>
              <a:lnSpc>
                <a:spcPts val="11399"/>
              </a:lnSpc>
            </a:pPr>
            <a:r>
              <a:rPr lang="en-US" sz="9499">
                <a:solidFill>
                  <a:srgbClr val="FFFDF6"/>
                </a:solidFill>
                <a:latin typeface="DM Sans Bold"/>
              </a:rPr>
              <a:t>Agenda</a:t>
            </a:r>
          </a:p>
        </p:txBody>
      </p:sp>
      <p:grpSp>
        <p:nvGrpSpPr>
          <p:cNvPr id="3" name="Group 3"/>
          <p:cNvGrpSpPr/>
          <p:nvPr/>
        </p:nvGrpSpPr>
        <p:grpSpPr>
          <a:xfrm>
            <a:off x="9962227" y="2057400"/>
            <a:ext cx="7297073" cy="533400"/>
            <a:chOff x="0" y="0"/>
            <a:chExt cx="9729430" cy="711200"/>
          </a:xfrm>
        </p:grpSpPr>
        <p:sp>
          <p:nvSpPr>
            <p:cNvPr id="4" name="TextBox 4"/>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Introduction</a:t>
              </a:r>
            </a:p>
          </p:txBody>
        </p:sp>
        <p:sp>
          <p:nvSpPr>
            <p:cNvPr id="5" name="TextBox 5"/>
            <p:cNvSpPr txBox="1"/>
            <p:nvPr/>
          </p:nvSpPr>
          <p:spPr>
            <a:xfrm>
              <a:off x="0" y="-9525"/>
              <a:ext cx="890230" cy="7207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01</a:t>
              </a:r>
            </a:p>
          </p:txBody>
        </p:sp>
      </p:grpSp>
      <p:grpSp>
        <p:nvGrpSpPr>
          <p:cNvPr id="6" name="Group 6"/>
          <p:cNvGrpSpPr/>
          <p:nvPr/>
        </p:nvGrpSpPr>
        <p:grpSpPr>
          <a:xfrm>
            <a:off x="9962227" y="3185160"/>
            <a:ext cx="7297073" cy="533400"/>
            <a:chOff x="0" y="0"/>
            <a:chExt cx="9729430" cy="711200"/>
          </a:xfrm>
        </p:grpSpPr>
        <p:sp>
          <p:nvSpPr>
            <p:cNvPr id="7" name="TextBox 7"/>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Problem Statement</a:t>
              </a:r>
            </a:p>
          </p:txBody>
        </p:sp>
        <p:sp>
          <p:nvSpPr>
            <p:cNvPr id="8" name="TextBox 8"/>
            <p:cNvSpPr txBox="1"/>
            <p:nvPr/>
          </p:nvSpPr>
          <p:spPr>
            <a:xfrm>
              <a:off x="0" y="-9525"/>
              <a:ext cx="890230" cy="7207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02</a:t>
              </a:r>
            </a:p>
          </p:txBody>
        </p:sp>
      </p:grpSp>
      <p:grpSp>
        <p:nvGrpSpPr>
          <p:cNvPr id="9" name="Group 9"/>
          <p:cNvGrpSpPr/>
          <p:nvPr/>
        </p:nvGrpSpPr>
        <p:grpSpPr>
          <a:xfrm>
            <a:off x="9962227" y="4312920"/>
            <a:ext cx="7297073" cy="533400"/>
            <a:chOff x="0" y="0"/>
            <a:chExt cx="9729430" cy="711200"/>
          </a:xfrm>
        </p:grpSpPr>
        <p:sp>
          <p:nvSpPr>
            <p:cNvPr id="10" name="TextBox 10"/>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Analyze the insights</a:t>
              </a:r>
            </a:p>
          </p:txBody>
        </p:sp>
        <p:sp>
          <p:nvSpPr>
            <p:cNvPr id="11" name="TextBox 11"/>
            <p:cNvSpPr txBox="1"/>
            <p:nvPr/>
          </p:nvSpPr>
          <p:spPr>
            <a:xfrm>
              <a:off x="0" y="-9525"/>
              <a:ext cx="890230" cy="7207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03</a:t>
              </a:r>
            </a:p>
          </p:txBody>
        </p:sp>
      </p:grpSp>
      <p:grpSp>
        <p:nvGrpSpPr>
          <p:cNvPr id="12" name="Group 12"/>
          <p:cNvGrpSpPr/>
          <p:nvPr/>
        </p:nvGrpSpPr>
        <p:grpSpPr>
          <a:xfrm>
            <a:off x="9962227" y="5440680"/>
            <a:ext cx="7297073" cy="533400"/>
            <a:chOff x="0" y="0"/>
            <a:chExt cx="9729430" cy="711200"/>
          </a:xfrm>
        </p:grpSpPr>
        <p:sp>
          <p:nvSpPr>
            <p:cNvPr id="13" name="TextBox 13"/>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Dashboard Snippets</a:t>
              </a:r>
            </a:p>
          </p:txBody>
        </p:sp>
        <p:sp>
          <p:nvSpPr>
            <p:cNvPr id="14" name="TextBox 14"/>
            <p:cNvSpPr txBox="1"/>
            <p:nvPr/>
          </p:nvSpPr>
          <p:spPr>
            <a:xfrm>
              <a:off x="0" y="-9525"/>
              <a:ext cx="890230" cy="7207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04</a:t>
              </a:r>
            </a:p>
          </p:txBody>
        </p:sp>
      </p:grpSp>
      <p:grpSp>
        <p:nvGrpSpPr>
          <p:cNvPr id="15" name="Group 15"/>
          <p:cNvGrpSpPr/>
          <p:nvPr/>
        </p:nvGrpSpPr>
        <p:grpSpPr>
          <a:xfrm>
            <a:off x="9962227" y="6568440"/>
            <a:ext cx="7297073" cy="533400"/>
            <a:chOff x="0" y="0"/>
            <a:chExt cx="9729430" cy="711200"/>
          </a:xfrm>
        </p:grpSpPr>
        <p:sp>
          <p:nvSpPr>
            <p:cNvPr id="16" name="TextBox 16"/>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Challenges faced</a:t>
              </a:r>
            </a:p>
          </p:txBody>
        </p:sp>
        <p:sp>
          <p:nvSpPr>
            <p:cNvPr id="17" name="TextBox 17"/>
            <p:cNvSpPr txBox="1"/>
            <p:nvPr/>
          </p:nvSpPr>
          <p:spPr>
            <a:xfrm>
              <a:off x="0" y="-9525"/>
              <a:ext cx="890230" cy="7207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05</a:t>
              </a:r>
            </a:p>
          </p:txBody>
        </p:sp>
      </p:grpSp>
      <p:grpSp>
        <p:nvGrpSpPr>
          <p:cNvPr id="18" name="Group 18"/>
          <p:cNvGrpSpPr/>
          <p:nvPr/>
        </p:nvGrpSpPr>
        <p:grpSpPr>
          <a:xfrm>
            <a:off x="9962227" y="7692390"/>
            <a:ext cx="7297073" cy="523875"/>
            <a:chOff x="0" y="0"/>
            <a:chExt cx="9729430" cy="698500"/>
          </a:xfrm>
        </p:grpSpPr>
        <p:sp>
          <p:nvSpPr>
            <p:cNvPr id="19" name="TextBox 19"/>
            <p:cNvSpPr txBox="1"/>
            <p:nvPr/>
          </p:nvSpPr>
          <p:spPr>
            <a:xfrm>
              <a:off x="1397000" y="48683"/>
              <a:ext cx="8332430" cy="556683"/>
            </a:xfrm>
            <a:prstGeom prst="rect">
              <a:avLst/>
            </a:prstGeom>
          </p:spPr>
          <p:txBody>
            <a:bodyPr lIns="0" tIns="0" rIns="0" bIns="0" rtlCol="0" anchor="t">
              <a:spAutoFit/>
            </a:bodyPr>
            <a:lstStyle/>
            <a:p>
              <a:pPr>
                <a:lnSpc>
                  <a:spcPts val="3500"/>
                </a:lnSpc>
              </a:pPr>
              <a:r>
                <a:rPr lang="en-US" sz="2500">
                  <a:solidFill>
                    <a:srgbClr val="FFFDF6"/>
                  </a:solidFill>
                  <a:latin typeface="DM Sans"/>
                </a:rPr>
                <a:t>Conclusions</a:t>
              </a:r>
            </a:p>
          </p:txBody>
        </p:sp>
        <p:sp>
          <p:nvSpPr>
            <p:cNvPr id="20" name="TextBox 20"/>
            <p:cNvSpPr txBox="1"/>
            <p:nvPr/>
          </p:nvSpPr>
          <p:spPr>
            <a:xfrm>
              <a:off x="0" y="-9525"/>
              <a:ext cx="890230" cy="708025"/>
            </a:xfrm>
            <a:prstGeom prst="rect">
              <a:avLst/>
            </a:prstGeom>
          </p:spPr>
          <p:txBody>
            <a:bodyPr lIns="0" tIns="0" rIns="0" bIns="0" rtlCol="0" anchor="t">
              <a:spAutoFit/>
            </a:bodyPr>
            <a:lstStyle/>
            <a:p>
              <a:pPr>
                <a:lnSpc>
                  <a:spcPts val="4200"/>
                </a:lnSpc>
              </a:pPr>
              <a:r>
                <a:rPr lang="en-US" sz="3500">
                  <a:solidFill>
                    <a:srgbClr val="FFEAD2"/>
                  </a:solidFill>
                  <a:latin typeface="DM Sans Bold"/>
                </a:rPr>
                <a:t>06</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rot="-1857633">
            <a:off x="16263362" y="1450096"/>
            <a:ext cx="2516188" cy="3170001"/>
          </a:xfrm>
          <a:custGeom>
            <a:avLst/>
            <a:gdLst/>
            <a:ahLst/>
            <a:cxnLst/>
            <a:rect l="l" t="t" r="r" b="b"/>
            <a:pathLst>
              <a:path w="2516188" h="3170001">
                <a:moveTo>
                  <a:pt x="0" y="0"/>
                </a:moveTo>
                <a:lnTo>
                  <a:pt x="2516188" y="0"/>
                </a:lnTo>
                <a:lnTo>
                  <a:pt x="2516188" y="3170001"/>
                </a:lnTo>
                <a:lnTo>
                  <a:pt x="0" y="3170001"/>
                </a:lnTo>
                <a:lnTo>
                  <a:pt x="0" y="0"/>
                </a:lnTo>
                <a:close/>
              </a:path>
            </a:pathLst>
          </a:custGeom>
          <a:blipFill>
            <a:blip r:embed="rId2"/>
            <a:stretch>
              <a:fillRect/>
            </a:stretch>
          </a:blipFill>
        </p:spPr>
      </p:sp>
      <p:sp>
        <p:nvSpPr>
          <p:cNvPr id="3" name="Freeform 3"/>
          <p:cNvSpPr/>
          <p:nvPr/>
        </p:nvSpPr>
        <p:spPr>
          <a:xfrm>
            <a:off x="-1583747" y="2457132"/>
            <a:ext cx="4520044" cy="4277092"/>
          </a:xfrm>
          <a:custGeom>
            <a:avLst/>
            <a:gdLst/>
            <a:ahLst/>
            <a:cxnLst/>
            <a:rect l="l" t="t" r="r" b="b"/>
            <a:pathLst>
              <a:path w="4520044" h="4277092">
                <a:moveTo>
                  <a:pt x="0" y="0"/>
                </a:moveTo>
                <a:lnTo>
                  <a:pt x="4520044" y="0"/>
                </a:lnTo>
                <a:lnTo>
                  <a:pt x="4520044" y="4277092"/>
                </a:lnTo>
                <a:lnTo>
                  <a:pt x="0" y="4277092"/>
                </a:lnTo>
                <a:lnTo>
                  <a:pt x="0" y="0"/>
                </a:lnTo>
                <a:close/>
              </a:path>
            </a:pathLst>
          </a:custGeom>
          <a:blipFill>
            <a:blip r:embed="rId3"/>
            <a:stretch>
              <a:fillRect/>
            </a:stretch>
          </a:blipFill>
        </p:spPr>
      </p:sp>
      <p:sp>
        <p:nvSpPr>
          <p:cNvPr id="4" name="Freeform 4"/>
          <p:cNvSpPr/>
          <p:nvPr/>
        </p:nvSpPr>
        <p:spPr>
          <a:xfrm>
            <a:off x="-352425" y="5727261"/>
            <a:ext cx="3049935" cy="3531039"/>
          </a:xfrm>
          <a:custGeom>
            <a:avLst/>
            <a:gdLst/>
            <a:ahLst/>
            <a:cxnLst/>
            <a:rect l="l" t="t" r="r" b="b"/>
            <a:pathLst>
              <a:path w="3049935" h="3531039">
                <a:moveTo>
                  <a:pt x="0" y="0"/>
                </a:moveTo>
                <a:lnTo>
                  <a:pt x="3049935" y="0"/>
                </a:lnTo>
                <a:lnTo>
                  <a:pt x="3049935" y="3531039"/>
                </a:lnTo>
                <a:lnTo>
                  <a:pt x="0" y="3531039"/>
                </a:lnTo>
                <a:lnTo>
                  <a:pt x="0" y="0"/>
                </a:lnTo>
                <a:close/>
              </a:path>
            </a:pathLst>
          </a:custGeom>
          <a:blipFill>
            <a:blip r:embed="rId4"/>
            <a:stretch>
              <a:fillRect/>
            </a:stretch>
          </a:blipFill>
        </p:spPr>
      </p:sp>
      <p:sp>
        <p:nvSpPr>
          <p:cNvPr id="5" name="TextBox 5"/>
          <p:cNvSpPr txBox="1"/>
          <p:nvPr/>
        </p:nvSpPr>
        <p:spPr>
          <a:xfrm>
            <a:off x="4078635" y="1028700"/>
            <a:ext cx="10130731" cy="1828800"/>
          </a:xfrm>
          <a:prstGeom prst="rect">
            <a:avLst/>
          </a:prstGeom>
        </p:spPr>
        <p:txBody>
          <a:bodyPr lIns="0" tIns="0" rIns="0" bIns="0" rtlCol="0" anchor="t">
            <a:spAutoFit/>
          </a:bodyPr>
          <a:lstStyle/>
          <a:p>
            <a:pPr algn="ctr">
              <a:lnSpc>
                <a:spcPts val="14400"/>
              </a:lnSpc>
            </a:pPr>
            <a:r>
              <a:rPr lang="en-US" sz="12000">
                <a:solidFill>
                  <a:srgbClr val="292929"/>
                </a:solidFill>
                <a:latin typeface="DM Sans Bold"/>
              </a:rPr>
              <a:t>Introduction</a:t>
            </a:r>
          </a:p>
        </p:txBody>
      </p:sp>
      <p:sp>
        <p:nvSpPr>
          <p:cNvPr id="6" name="TextBox 6"/>
          <p:cNvSpPr txBox="1"/>
          <p:nvPr/>
        </p:nvSpPr>
        <p:spPr>
          <a:xfrm>
            <a:off x="3660258" y="3611418"/>
            <a:ext cx="11753261" cy="5467985"/>
          </a:xfrm>
          <a:prstGeom prst="rect">
            <a:avLst/>
          </a:prstGeom>
        </p:spPr>
        <p:txBody>
          <a:bodyPr lIns="0" tIns="0" rIns="0" bIns="0" rtlCol="0" anchor="t">
            <a:spAutoFit/>
          </a:bodyPr>
          <a:lstStyle/>
          <a:p>
            <a:pPr algn="just">
              <a:lnSpc>
                <a:spcPts val="3639"/>
              </a:lnSpc>
              <a:spcBef>
                <a:spcPct val="0"/>
              </a:spcBef>
            </a:pPr>
            <a:r>
              <a:rPr lang="en-US" sz="2599">
                <a:solidFill>
                  <a:srgbClr val="292929"/>
                </a:solidFill>
                <a:latin typeface="DM Sans"/>
              </a:rPr>
              <a:t>Welcome to the presentation on customer relationship management in the banking sector. As the analytical CRM specialist for the bank, I've been tasked with extracting insights from diverse customer datasets to reduce churn, improve service, and boost satisfaction.</a:t>
            </a:r>
          </a:p>
          <a:p>
            <a:pPr algn="just">
              <a:lnSpc>
                <a:spcPts val="3639"/>
              </a:lnSpc>
              <a:spcBef>
                <a:spcPct val="0"/>
              </a:spcBef>
            </a:pPr>
            <a:endParaRPr lang="en-US" sz="2599">
              <a:solidFill>
                <a:srgbClr val="292929"/>
              </a:solidFill>
              <a:latin typeface="DM Sans"/>
            </a:endParaRPr>
          </a:p>
          <a:p>
            <a:pPr algn="just">
              <a:lnSpc>
                <a:spcPts val="3639"/>
              </a:lnSpc>
              <a:spcBef>
                <a:spcPct val="0"/>
              </a:spcBef>
            </a:pPr>
            <a:r>
              <a:rPr lang="en-US" sz="2599">
                <a:solidFill>
                  <a:srgbClr val="292929"/>
                </a:solidFill>
                <a:latin typeface="DM Sans"/>
              </a:rPr>
              <a:t>Throughout this session, we'll explore customer demographics, transaction details, exit records, and active profiles. Our goal? To uncover valuable insights that drive strategic decisions and foster lasting customer relationships.</a:t>
            </a:r>
          </a:p>
          <a:p>
            <a:pPr algn="just">
              <a:lnSpc>
                <a:spcPts val="3639"/>
              </a:lnSpc>
              <a:spcBef>
                <a:spcPct val="0"/>
              </a:spcBef>
            </a:pPr>
            <a:endParaRPr lang="en-US" sz="2599">
              <a:solidFill>
                <a:srgbClr val="292929"/>
              </a:solidFill>
              <a:latin typeface="DM Sans"/>
            </a:endParaRPr>
          </a:p>
          <a:p>
            <a:pPr algn="just">
              <a:lnSpc>
                <a:spcPts val="3639"/>
              </a:lnSpc>
              <a:spcBef>
                <a:spcPct val="0"/>
              </a:spcBef>
            </a:pPr>
            <a:r>
              <a:rPr lang="en-US" sz="2599">
                <a:solidFill>
                  <a:srgbClr val="292929"/>
                </a:solidFill>
                <a:latin typeface="DM Sans"/>
              </a:rPr>
              <a:t>Let's dive in and unlock the power of data-driven strategies for customer retention and satisfaction.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811696" y="3121072"/>
            <a:ext cx="2984227" cy="6137228"/>
          </a:xfrm>
          <a:custGeom>
            <a:avLst/>
            <a:gdLst/>
            <a:ahLst/>
            <a:cxnLst/>
            <a:rect l="l" t="t" r="r" b="b"/>
            <a:pathLst>
              <a:path w="2984227" h="6137228">
                <a:moveTo>
                  <a:pt x="0" y="0"/>
                </a:moveTo>
                <a:lnTo>
                  <a:pt x="2984227" y="0"/>
                </a:lnTo>
                <a:lnTo>
                  <a:pt x="2984227" y="6137228"/>
                </a:lnTo>
                <a:lnTo>
                  <a:pt x="0" y="6137228"/>
                </a:lnTo>
                <a:lnTo>
                  <a:pt x="0" y="0"/>
                </a:lnTo>
                <a:close/>
              </a:path>
            </a:pathLst>
          </a:custGeom>
          <a:blipFill>
            <a:blip r:embed="rId2"/>
            <a:stretch>
              <a:fillRect/>
            </a:stretch>
          </a:blipFill>
        </p:spPr>
      </p:sp>
      <p:grpSp>
        <p:nvGrpSpPr>
          <p:cNvPr id="3" name="Group 3"/>
          <p:cNvGrpSpPr/>
          <p:nvPr/>
        </p:nvGrpSpPr>
        <p:grpSpPr>
          <a:xfrm>
            <a:off x="3959470" y="2302542"/>
            <a:ext cx="10369060" cy="5681917"/>
            <a:chOff x="0" y="0"/>
            <a:chExt cx="13825413" cy="7575889"/>
          </a:xfrm>
        </p:grpSpPr>
        <p:sp>
          <p:nvSpPr>
            <p:cNvPr id="4" name="TextBox 4"/>
            <p:cNvSpPr txBox="1"/>
            <p:nvPr/>
          </p:nvSpPr>
          <p:spPr>
            <a:xfrm>
              <a:off x="0" y="0"/>
              <a:ext cx="13825413" cy="1727200"/>
            </a:xfrm>
            <a:prstGeom prst="rect">
              <a:avLst/>
            </a:prstGeom>
          </p:spPr>
          <p:txBody>
            <a:bodyPr lIns="0" tIns="0" rIns="0" bIns="0" rtlCol="0" anchor="t">
              <a:spAutoFit/>
            </a:bodyPr>
            <a:lstStyle/>
            <a:p>
              <a:pPr algn="ctr">
                <a:lnSpc>
                  <a:spcPts val="10200"/>
                </a:lnSpc>
              </a:pPr>
              <a:r>
                <a:rPr lang="en-US" sz="8500">
                  <a:solidFill>
                    <a:srgbClr val="FFFDF6"/>
                  </a:solidFill>
                  <a:latin typeface="DM Sans Bold"/>
                </a:rPr>
                <a:t>Problem Statement</a:t>
              </a:r>
            </a:p>
          </p:txBody>
        </p:sp>
        <p:sp>
          <p:nvSpPr>
            <p:cNvPr id="5" name="TextBox 5"/>
            <p:cNvSpPr txBox="1"/>
            <p:nvPr/>
          </p:nvSpPr>
          <p:spPr>
            <a:xfrm>
              <a:off x="0" y="2539704"/>
              <a:ext cx="13825413" cy="5036185"/>
            </a:xfrm>
            <a:prstGeom prst="rect">
              <a:avLst/>
            </a:prstGeom>
          </p:spPr>
          <p:txBody>
            <a:bodyPr lIns="0" tIns="0" rIns="0" bIns="0" rtlCol="0" anchor="t">
              <a:spAutoFit/>
            </a:bodyPr>
            <a:lstStyle/>
            <a:p>
              <a:pPr algn="just">
                <a:lnSpc>
                  <a:spcPts val="3779"/>
                </a:lnSpc>
              </a:pPr>
              <a:r>
                <a:rPr lang="en-US" sz="2699">
                  <a:solidFill>
                    <a:srgbClr val="FFFDF6"/>
                  </a:solidFill>
                  <a:latin typeface="DM Sans"/>
                </a:rPr>
                <a:t>You are an analytical CRM (Customer Relationship Management) specialist hired by a bank to extract meaningful insights from various customer-related datasets. The bank aims to reduce customer churn, improve service delivery, and enhance customer satisfaction. They have provided you with datasets including customer demographics, transaction details, customer exit information, and active customer profiles.</a:t>
              </a:r>
            </a:p>
            <a:p>
              <a:pPr algn="just">
                <a:lnSpc>
                  <a:spcPts val="3779"/>
                </a:lnSpc>
              </a:pPr>
              <a:endParaRPr lang="en-US" sz="2699">
                <a:solidFill>
                  <a:srgbClr val="FFFDF6"/>
                </a:solidFill>
                <a:latin typeface="DM Sans"/>
              </a:endParaRPr>
            </a:p>
          </p:txBody>
        </p:sp>
      </p:grpSp>
      <p:sp>
        <p:nvSpPr>
          <p:cNvPr id="6" name="Freeform 6"/>
          <p:cNvSpPr/>
          <p:nvPr/>
        </p:nvSpPr>
        <p:spPr>
          <a:xfrm>
            <a:off x="15921695" y="1028700"/>
            <a:ext cx="2865711" cy="5282416"/>
          </a:xfrm>
          <a:custGeom>
            <a:avLst/>
            <a:gdLst/>
            <a:ahLst/>
            <a:cxnLst/>
            <a:rect l="l" t="t" r="r" b="b"/>
            <a:pathLst>
              <a:path w="2865711" h="5282416">
                <a:moveTo>
                  <a:pt x="0" y="0"/>
                </a:moveTo>
                <a:lnTo>
                  <a:pt x="2865710" y="0"/>
                </a:lnTo>
                <a:lnTo>
                  <a:pt x="2865710" y="5282416"/>
                </a:lnTo>
                <a:lnTo>
                  <a:pt x="0" y="5282416"/>
                </a:lnTo>
                <a:lnTo>
                  <a:pt x="0" y="0"/>
                </a:lnTo>
                <a:close/>
              </a:path>
            </a:pathLst>
          </a:custGeom>
          <a:blipFill>
            <a:blip r:embed="rId3"/>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1028700" y="1897380"/>
            <a:ext cx="6915150" cy="4023034"/>
          </a:xfrm>
          <a:custGeom>
            <a:avLst/>
            <a:gdLst/>
            <a:ahLst/>
            <a:cxnLst/>
            <a:rect l="l" t="t" r="r" b="b"/>
            <a:pathLst>
              <a:path w="6915150" h="4023034">
                <a:moveTo>
                  <a:pt x="0" y="0"/>
                </a:moveTo>
                <a:lnTo>
                  <a:pt x="6915150" y="0"/>
                </a:lnTo>
                <a:lnTo>
                  <a:pt x="6915150" y="4023034"/>
                </a:lnTo>
                <a:lnTo>
                  <a:pt x="0" y="4023034"/>
                </a:lnTo>
                <a:lnTo>
                  <a:pt x="0" y="0"/>
                </a:lnTo>
                <a:close/>
              </a:path>
            </a:pathLst>
          </a:custGeom>
          <a:blipFill>
            <a:blip r:embed="rId2"/>
            <a:stretch>
              <a:fillRect t="-4" b="-4"/>
            </a:stretch>
          </a:blipFill>
        </p:spPr>
      </p:sp>
      <p:sp>
        <p:nvSpPr>
          <p:cNvPr id="4" name="Freeform 4"/>
          <p:cNvSpPr/>
          <p:nvPr/>
        </p:nvSpPr>
        <p:spPr>
          <a:xfrm>
            <a:off x="10344150" y="1798938"/>
            <a:ext cx="6747645" cy="4219918"/>
          </a:xfrm>
          <a:custGeom>
            <a:avLst/>
            <a:gdLst/>
            <a:ahLst/>
            <a:cxnLst/>
            <a:rect l="l" t="t" r="r" b="b"/>
            <a:pathLst>
              <a:path w="6747645" h="4219918">
                <a:moveTo>
                  <a:pt x="0" y="0"/>
                </a:moveTo>
                <a:lnTo>
                  <a:pt x="6747645" y="0"/>
                </a:lnTo>
                <a:lnTo>
                  <a:pt x="6747645" y="4219918"/>
                </a:lnTo>
                <a:lnTo>
                  <a:pt x="0" y="4219918"/>
                </a:lnTo>
                <a:lnTo>
                  <a:pt x="0" y="0"/>
                </a:lnTo>
                <a:close/>
              </a:path>
            </a:pathLst>
          </a:custGeom>
          <a:blipFill>
            <a:blip r:embed="rId3"/>
            <a:stretch>
              <a:fillRect t="-895" b="-2038"/>
            </a:stretch>
          </a:blipFill>
        </p:spPr>
      </p:sp>
      <p:sp>
        <p:nvSpPr>
          <p:cNvPr id="5" name="TextBox 5"/>
          <p:cNvSpPr txBox="1"/>
          <p:nvPr/>
        </p:nvSpPr>
        <p:spPr>
          <a:xfrm>
            <a:off x="3486673" y="333375"/>
            <a:ext cx="11314654" cy="1381125"/>
          </a:xfrm>
          <a:prstGeom prst="rect">
            <a:avLst/>
          </a:prstGeom>
        </p:spPr>
        <p:txBody>
          <a:bodyPr lIns="0" tIns="0" rIns="0" bIns="0" rtlCol="0" anchor="t">
            <a:spAutoFit/>
          </a:bodyPr>
          <a:lstStyle/>
          <a:p>
            <a:pPr>
              <a:lnSpc>
                <a:spcPts val="10800"/>
              </a:lnSpc>
            </a:pPr>
            <a:r>
              <a:rPr lang="en-US" sz="9000">
                <a:solidFill>
                  <a:srgbClr val="FFFDF6"/>
                </a:solidFill>
                <a:latin typeface="DM Sans Bold"/>
              </a:rPr>
              <a:t>Analyze the insights</a:t>
            </a:r>
          </a:p>
        </p:txBody>
      </p:sp>
      <p:sp>
        <p:nvSpPr>
          <p:cNvPr id="6" name="TextBox 6"/>
          <p:cNvSpPr txBox="1"/>
          <p:nvPr/>
        </p:nvSpPr>
        <p:spPr>
          <a:xfrm>
            <a:off x="1117454" y="6828162"/>
            <a:ext cx="6694051" cy="1353542"/>
          </a:xfrm>
          <a:prstGeom prst="rect">
            <a:avLst/>
          </a:prstGeom>
        </p:spPr>
        <p:txBody>
          <a:bodyPr lIns="0" tIns="0" rIns="0" bIns="0" rtlCol="0" anchor="t">
            <a:spAutoFit/>
          </a:bodyPr>
          <a:lstStyle/>
          <a:p>
            <a:pPr algn="just">
              <a:lnSpc>
                <a:spcPts val="3620"/>
              </a:lnSpc>
            </a:pPr>
            <a:r>
              <a:rPr lang="en-US" sz="2585">
                <a:solidFill>
                  <a:srgbClr val="FFFDF6"/>
                </a:solidFill>
                <a:latin typeface="DM Sans"/>
              </a:rPr>
              <a:t>Number of customers every year increases ,</a:t>
            </a:r>
          </a:p>
          <a:p>
            <a:pPr algn="just">
              <a:lnSpc>
                <a:spcPts val="3620"/>
              </a:lnSpc>
            </a:pPr>
            <a:r>
              <a:rPr lang="en-US" sz="2585">
                <a:solidFill>
                  <a:srgbClr val="FFFDF6"/>
                </a:solidFill>
                <a:latin typeface="DM Sans"/>
              </a:rPr>
              <a:t>as we can see we have highest number of </a:t>
            </a:r>
          </a:p>
          <a:p>
            <a:pPr algn="just">
              <a:lnSpc>
                <a:spcPts val="3620"/>
              </a:lnSpc>
              <a:spcBef>
                <a:spcPct val="0"/>
              </a:spcBef>
            </a:pPr>
            <a:r>
              <a:rPr lang="en-US" sz="2585">
                <a:solidFill>
                  <a:srgbClr val="FFFDF6"/>
                </a:solidFill>
                <a:latin typeface="DM Sans"/>
              </a:rPr>
              <a:t>customers in 2019</a:t>
            </a:r>
          </a:p>
        </p:txBody>
      </p:sp>
      <p:sp>
        <p:nvSpPr>
          <p:cNvPr id="7" name="TextBox 7"/>
          <p:cNvSpPr txBox="1"/>
          <p:nvPr/>
        </p:nvSpPr>
        <p:spPr>
          <a:xfrm>
            <a:off x="10641636" y="6828162"/>
            <a:ext cx="6152674" cy="1810742"/>
          </a:xfrm>
          <a:prstGeom prst="rect">
            <a:avLst/>
          </a:prstGeom>
        </p:spPr>
        <p:txBody>
          <a:bodyPr lIns="0" tIns="0" rIns="0" bIns="0" rtlCol="0" anchor="t">
            <a:spAutoFit/>
          </a:bodyPr>
          <a:lstStyle/>
          <a:p>
            <a:pPr algn="just">
              <a:lnSpc>
                <a:spcPts val="3620"/>
              </a:lnSpc>
            </a:pPr>
            <a:r>
              <a:rPr lang="en-US" sz="2585">
                <a:solidFill>
                  <a:srgbClr val="FFFDF6"/>
                </a:solidFill>
                <a:latin typeface="DM Sans"/>
              </a:rPr>
              <a:t>Above chart shows us the churn rate by </a:t>
            </a:r>
          </a:p>
          <a:p>
            <a:pPr algn="just">
              <a:lnSpc>
                <a:spcPts val="3620"/>
              </a:lnSpc>
            </a:pPr>
            <a:r>
              <a:rPr lang="en-US" sz="2585">
                <a:solidFill>
                  <a:srgbClr val="FFFDF6"/>
                </a:solidFill>
                <a:latin typeface="DM Sans"/>
              </a:rPr>
              <a:t>every year, as per the chart churn rate </a:t>
            </a:r>
          </a:p>
          <a:p>
            <a:pPr algn="just">
              <a:lnSpc>
                <a:spcPts val="3620"/>
              </a:lnSpc>
            </a:pPr>
            <a:r>
              <a:rPr lang="en-US" sz="2585">
                <a:solidFill>
                  <a:srgbClr val="FFFDF6"/>
                </a:solidFill>
                <a:latin typeface="DM Sans"/>
              </a:rPr>
              <a:t>was highest in 2017 (22.4%), then it </a:t>
            </a:r>
          </a:p>
          <a:p>
            <a:pPr algn="just">
              <a:lnSpc>
                <a:spcPts val="3620"/>
              </a:lnSpc>
              <a:spcBef>
                <a:spcPct val="0"/>
              </a:spcBef>
            </a:pPr>
            <a:r>
              <a:rPr lang="en-US" sz="2585">
                <a:solidFill>
                  <a:srgbClr val="FFFDF6"/>
                </a:solidFill>
                <a:latin typeface="DM Sans"/>
              </a:rPr>
              <a:t>decreases in 2018 and 2019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1463271" y="1028700"/>
            <a:ext cx="6002418" cy="4454709"/>
          </a:xfrm>
          <a:custGeom>
            <a:avLst/>
            <a:gdLst/>
            <a:ahLst/>
            <a:cxnLst/>
            <a:rect l="l" t="t" r="r" b="b"/>
            <a:pathLst>
              <a:path w="6002418" h="4454709">
                <a:moveTo>
                  <a:pt x="0" y="0"/>
                </a:moveTo>
                <a:lnTo>
                  <a:pt x="6002418" y="0"/>
                </a:lnTo>
                <a:lnTo>
                  <a:pt x="6002418" y="4454709"/>
                </a:lnTo>
                <a:lnTo>
                  <a:pt x="0" y="4454709"/>
                </a:lnTo>
                <a:lnTo>
                  <a:pt x="0" y="0"/>
                </a:lnTo>
                <a:close/>
              </a:path>
            </a:pathLst>
          </a:custGeom>
          <a:blipFill>
            <a:blip r:embed="rId2"/>
            <a:stretch>
              <a:fillRect/>
            </a:stretch>
          </a:blipFill>
        </p:spPr>
      </p:sp>
      <p:sp>
        <p:nvSpPr>
          <p:cNvPr id="4" name="Freeform 4"/>
          <p:cNvSpPr/>
          <p:nvPr/>
        </p:nvSpPr>
        <p:spPr>
          <a:xfrm>
            <a:off x="10820400" y="1028700"/>
            <a:ext cx="6333710" cy="4454709"/>
          </a:xfrm>
          <a:custGeom>
            <a:avLst/>
            <a:gdLst/>
            <a:ahLst/>
            <a:cxnLst/>
            <a:rect l="l" t="t" r="r" b="b"/>
            <a:pathLst>
              <a:path w="6333710" h="4454709">
                <a:moveTo>
                  <a:pt x="0" y="0"/>
                </a:moveTo>
                <a:lnTo>
                  <a:pt x="6333710" y="0"/>
                </a:lnTo>
                <a:lnTo>
                  <a:pt x="6333710" y="4454709"/>
                </a:lnTo>
                <a:lnTo>
                  <a:pt x="0" y="4454709"/>
                </a:lnTo>
                <a:lnTo>
                  <a:pt x="0" y="0"/>
                </a:lnTo>
                <a:close/>
              </a:path>
            </a:pathLst>
          </a:custGeom>
          <a:blipFill>
            <a:blip r:embed="rId3"/>
            <a:stretch>
              <a:fillRect/>
            </a:stretch>
          </a:blipFill>
        </p:spPr>
      </p:sp>
      <p:sp>
        <p:nvSpPr>
          <p:cNvPr id="5" name="TextBox 5"/>
          <p:cNvSpPr txBox="1"/>
          <p:nvPr/>
        </p:nvSpPr>
        <p:spPr>
          <a:xfrm>
            <a:off x="1356472" y="6828162"/>
            <a:ext cx="6216015" cy="1353542"/>
          </a:xfrm>
          <a:prstGeom prst="rect">
            <a:avLst/>
          </a:prstGeom>
        </p:spPr>
        <p:txBody>
          <a:bodyPr lIns="0" tIns="0" rIns="0" bIns="0" rtlCol="0" anchor="t">
            <a:spAutoFit/>
          </a:bodyPr>
          <a:lstStyle/>
          <a:p>
            <a:pPr algn="just">
              <a:lnSpc>
                <a:spcPts val="3620"/>
              </a:lnSpc>
            </a:pPr>
            <a:r>
              <a:rPr lang="en-US" sz="2585">
                <a:solidFill>
                  <a:srgbClr val="FFFDF6"/>
                </a:solidFill>
                <a:latin typeface="DM Sans"/>
              </a:rPr>
              <a:t>Here we can see the balance distribution</a:t>
            </a:r>
          </a:p>
          <a:p>
            <a:pPr algn="just">
              <a:lnSpc>
                <a:spcPts val="3620"/>
              </a:lnSpc>
            </a:pPr>
            <a:r>
              <a:rPr lang="en-US" sz="2585">
                <a:solidFill>
                  <a:srgbClr val="FFFDF6"/>
                </a:solidFill>
                <a:latin typeface="DM Sans"/>
              </a:rPr>
              <a:t>among different geography locations.</a:t>
            </a:r>
          </a:p>
          <a:p>
            <a:pPr algn="just">
              <a:lnSpc>
                <a:spcPts val="3620"/>
              </a:lnSpc>
              <a:spcBef>
                <a:spcPct val="0"/>
              </a:spcBef>
            </a:pPr>
            <a:r>
              <a:rPr lang="en-US" sz="2585">
                <a:solidFill>
                  <a:srgbClr val="FFFDF6"/>
                </a:solidFill>
                <a:latin typeface="DM Sans"/>
              </a:rPr>
              <a:t>Spain has least amount of total balance.</a:t>
            </a:r>
          </a:p>
        </p:txBody>
      </p:sp>
      <p:sp>
        <p:nvSpPr>
          <p:cNvPr id="6" name="TextBox 6"/>
          <p:cNvSpPr txBox="1"/>
          <p:nvPr/>
        </p:nvSpPr>
        <p:spPr>
          <a:xfrm>
            <a:off x="10715625" y="6370962"/>
            <a:ext cx="6576893" cy="2267942"/>
          </a:xfrm>
          <a:prstGeom prst="rect">
            <a:avLst/>
          </a:prstGeom>
        </p:spPr>
        <p:txBody>
          <a:bodyPr lIns="0" tIns="0" rIns="0" bIns="0" rtlCol="0" anchor="t">
            <a:spAutoFit/>
          </a:bodyPr>
          <a:lstStyle/>
          <a:p>
            <a:pPr algn="just">
              <a:lnSpc>
                <a:spcPts val="3620"/>
              </a:lnSpc>
            </a:pPr>
            <a:r>
              <a:rPr lang="en-US" sz="2585">
                <a:solidFill>
                  <a:srgbClr val="FFFDF6"/>
                </a:solidFill>
                <a:latin typeface="DM Sans"/>
              </a:rPr>
              <a:t>Above chart shows us the Total customers </a:t>
            </a:r>
          </a:p>
          <a:p>
            <a:pPr algn="just">
              <a:lnSpc>
                <a:spcPts val="3620"/>
              </a:lnSpc>
            </a:pPr>
            <a:r>
              <a:rPr lang="en-US" sz="2585">
                <a:solidFill>
                  <a:srgbClr val="FFFDF6"/>
                </a:solidFill>
                <a:latin typeface="DM Sans"/>
              </a:rPr>
              <a:t>and churn rate by geography locations.</a:t>
            </a:r>
          </a:p>
          <a:p>
            <a:pPr algn="just">
              <a:lnSpc>
                <a:spcPts val="3620"/>
              </a:lnSpc>
            </a:pPr>
            <a:r>
              <a:rPr lang="en-US" sz="2585">
                <a:solidFill>
                  <a:srgbClr val="FFFDF6"/>
                </a:solidFill>
                <a:latin typeface="DM Sans"/>
              </a:rPr>
              <a:t>We can see that Germany has highest </a:t>
            </a:r>
          </a:p>
          <a:p>
            <a:pPr algn="just">
              <a:lnSpc>
                <a:spcPts val="3620"/>
              </a:lnSpc>
            </a:pPr>
            <a:r>
              <a:rPr lang="en-US" sz="2585">
                <a:solidFill>
                  <a:srgbClr val="FFFDF6"/>
                </a:solidFill>
                <a:latin typeface="DM Sans"/>
              </a:rPr>
              <a:t>churn rate (32.4%) while France most</a:t>
            </a:r>
          </a:p>
          <a:p>
            <a:pPr algn="just">
              <a:lnSpc>
                <a:spcPts val="3620"/>
              </a:lnSpc>
              <a:spcBef>
                <a:spcPct val="0"/>
              </a:spcBef>
            </a:pPr>
            <a:r>
              <a:rPr lang="en-US" sz="2585">
                <a:solidFill>
                  <a:srgbClr val="FFFDF6"/>
                </a:solidFill>
                <a:latin typeface="DM Sans"/>
              </a:rPr>
              <a:t>number of total customers.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843120" y="2404026"/>
            <a:ext cx="7615080" cy="2282858"/>
          </a:xfrm>
          <a:custGeom>
            <a:avLst/>
            <a:gdLst/>
            <a:ahLst/>
            <a:cxnLst/>
            <a:rect l="l" t="t" r="r" b="b"/>
            <a:pathLst>
              <a:path w="7615080" h="2282858">
                <a:moveTo>
                  <a:pt x="0" y="0"/>
                </a:moveTo>
                <a:lnTo>
                  <a:pt x="7615080" y="0"/>
                </a:lnTo>
                <a:lnTo>
                  <a:pt x="7615080" y="2282858"/>
                </a:lnTo>
                <a:lnTo>
                  <a:pt x="0" y="2282858"/>
                </a:lnTo>
                <a:lnTo>
                  <a:pt x="0" y="0"/>
                </a:lnTo>
                <a:close/>
              </a:path>
            </a:pathLst>
          </a:custGeom>
          <a:blipFill>
            <a:blip r:embed="rId2"/>
            <a:stretch>
              <a:fillRect/>
            </a:stretch>
          </a:blipFill>
        </p:spPr>
      </p:sp>
      <p:sp>
        <p:nvSpPr>
          <p:cNvPr id="4" name="Freeform 4"/>
          <p:cNvSpPr/>
          <p:nvPr/>
        </p:nvSpPr>
        <p:spPr>
          <a:xfrm>
            <a:off x="9829800" y="2323352"/>
            <a:ext cx="7184482" cy="2444205"/>
          </a:xfrm>
          <a:custGeom>
            <a:avLst/>
            <a:gdLst/>
            <a:ahLst/>
            <a:cxnLst/>
            <a:rect l="l" t="t" r="r" b="b"/>
            <a:pathLst>
              <a:path w="7184482" h="2444205">
                <a:moveTo>
                  <a:pt x="0" y="0"/>
                </a:moveTo>
                <a:lnTo>
                  <a:pt x="7184482" y="0"/>
                </a:lnTo>
                <a:lnTo>
                  <a:pt x="7184482" y="2444206"/>
                </a:lnTo>
                <a:lnTo>
                  <a:pt x="0" y="2444206"/>
                </a:lnTo>
                <a:lnTo>
                  <a:pt x="0" y="0"/>
                </a:lnTo>
                <a:close/>
              </a:path>
            </a:pathLst>
          </a:custGeom>
          <a:blipFill>
            <a:blip r:embed="rId3"/>
            <a:stretch>
              <a:fillRect/>
            </a:stretch>
          </a:blipFill>
        </p:spPr>
      </p:sp>
      <p:sp>
        <p:nvSpPr>
          <p:cNvPr id="5" name="TextBox 5"/>
          <p:cNvSpPr txBox="1"/>
          <p:nvPr/>
        </p:nvSpPr>
        <p:spPr>
          <a:xfrm>
            <a:off x="2107130" y="5896943"/>
            <a:ext cx="5087060" cy="22773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In the above table we can see the credit card score categories ordered by their exit rate. “Poor” category has the highest exit rate of 0.2202 or 22.02%.</a:t>
            </a:r>
          </a:p>
        </p:txBody>
      </p:sp>
      <p:sp>
        <p:nvSpPr>
          <p:cNvPr id="6" name="TextBox 6"/>
          <p:cNvSpPr txBox="1"/>
          <p:nvPr/>
        </p:nvSpPr>
        <p:spPr>
          <a:xfrm>
            <a:off x="10558575" y="5896943"/>
            <a:ext cx="5726931" cy="27345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The above table shows the ranking of credit card category on the basis of total customers who exited, we can see that “Fair” category has the rank 1 with 685 total exited customers.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1567915" y="2337352"/>
            <a:ext cx="6165490" cy="2416206"/>
          </a:xfrm>
          <a:custGeom>
            <a:avLst/>
            <a:gdLst/>
            <a:ahLst/>
            <a:cxnLst/>
            <a:rect l="l" t="t" r="r" b="b"/>
            <a:pathLst>
              <a:path w="6165490" h="2416206">
                <a:moveTo>
                  <a:pt x="0" y="0"/>
                </a:moveTo>
                <a:lnTo>
                  <a:pt x="6165490" y="0"/>
                </a:lnTo>
                <a:lnTo>
                  <a:pt x="6165490" y="2416206"/>
                </a:lnTo>
                <a:lnTo>
                  <a:pt x="0" y="2416206"/>
                </a:lnTo>
                <a:lnTo>
                  <a:pt x="0" y="0"/>
                </a:lnTo>
                <a:close/>
              </a:path>
            </a:pathLst>
          </a:custGeom>
          <a:blipFill>
            <a:blip r:embed="rId2"/>
            <a:stretch>
              <a:fillRect/>
            </a:stretch>
          </a:blipFill>
        </p:spPr>
      </p:sp>
      <p:sp>
        <p:nvSpPr>
          <p:cNvPr id="4" name="Freeform 4"/>
          <p:cNvSpPr/>
          <p:nvPr/>
        </p:nvSpPr>
        <p:spPr>
          <a:xfrm>
            <a:off x="10553700" y="2621290"/>
            <a:ext cx="6227109" cy="1848329"/>
          </a:xfrm>
          <a:custGeom>
            <a:avLst/>
            <a:gdLst/>
            <a:ahLst/>
            <a:cxnLst/>
            <a:rect l="l" t="t" r="r" b="b"/>
            <a:pathLst>
              <a:path w="6227109" h="1848329">
                <a:moveTo>
                  <a:pt x="0" y="0"/>
                </a:moveTo>
                <a:lnTo>
                  <a:pt x="6227109" y="0"/>
                </a:lnTo>
                <a:lnTo>
                  <a:pt x="6227109" y="1848329"/>
                </a:lnTo>
                <a:lnTo>
                  <a:pt x="0" y="1848329"/>
                </a:lnTo>
                <a:lnTo>
                  <a:pt x="0" y="0"/>
                </a:lnTo>
                <a:close/>
              </a:path>
            </a:pathLst>
          </a:custGeom>
          <a:blipFill>
            <a:blip r:embed="rId3"/>
            <a:stretch>
              <a:fillRect/>
            </a:stretch>
          </a:blipFill>
        </p:spPr>
      </p:sp>
      <p:sp>
        <p:nvSpPr>
          <p:cNvPr id="5" name="TextBox 5"/>
          <p:cNvSpPr txBox="1"/>
          <p:nvPr/>
        </p:nvSpPr>
        <p:spPr>
          <a:xfrm>
            <a:off x="1837522" y="5896943"/>
            <a:ext cx="5626275" cy="36489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Consumers who are between the ages of 30 and 50 are more likely to own credit cards than those who are beyond fifty. The results of this age-based analysis point to a relationship between credit card ownership trends and age demographics. </a:t>
            </a:r>
          </a:p>
        </p:txBody>
      </p:sp>
      <p:sp>
        <p:nvSpPr>
          <p:cNvPr id="6" name="TextBox 6"/>
          <p:cNvSpPr txBox="1"/>
          <p:nvPr/>
        </p:nvSpPr>
        <p:spPr>
          <a:xfrm>
            <a:off x="10558575" y="5896943"/>
            <a:ext cx="5726931" cy="18201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When compared to the average number of credit card holders, age groups of 18 - 30 and 50 plus show lower credit card ownership.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1812918" y="1127923"/>
            <a:ext cx="5650879" cy="4015577"/>
          </a:xfrm>
          <a:custGeom>
            <a:avLst/>
            <a:gdLst/>
            <a:ahLst/>
            <a:cxnLst/>
            <a:rect l="l" t="t" r="r" b="b"/>
            <a:pathLst>
              <a:path w="5650879" h="4015577">
                <a:moveTo>
                  <a:pt x="0" y="0"/>
                </a:moveTo>
                <a:lnTo>
                  <a:pt x="5650880" y="0"/>
                </a:lnTo>
                <a:lnTo>
                  <a:pt x="5650880" y="4015577"/>
                </a:lnTo>
                <a:lnTo>
                  <a:pt x="0" y="4015577"/>
                </a:lnTo>
                <a:lnTo>
                  <a:pt x="0" y="0"/>
                </a:lnTo>
                <a:close/>
              </a:path>
            </a:pathLst>
          </a:custGeom>
          <a:blipFill>
            <a:blip r:embed="rId2"/>
            <a:stretch>
              <a:fillRect/>
            </a:stretch>
          </a:blipFill>
        </p:spPr>
      </p:sp>
      <p:sp>
        <p:nvSpPr>
          <p:cNvPr id="4" name="Freeform 4"/>
          <p:cNvSpPr/>
          <p:nvPr/>
        </p:nvSpPr>
        <p:spPr>
          <a:xfrm>
            <a:off x="10820400" y="1127923"/>
            <a:ext cx="5697228" cy="3988060"/>
          </a:xfrm>
          <a:custGeom>
            <a:avLst/>
            <a:gdLst/>
            <a:ahLst/>
            <a:cxnLst/>
            <a:rect l="l" t="t" r="r" b="b"/>
            <a:pathLst>
              <a:path w="5697228" h="3988060">
                <a:moveTo>
                  <a:pt x="0" y="0"/>
                </a:moveTo>
                <a:lnTo>
                  <a:pt x="5697228" y="0"/>
                </a:lnTo>
                <a:lnTo>
                  <a:pt x="5697228" y="3988060"/>
                </a:lnTo>
                <a:lnTo>
                  <a:pt x="0" y="3988060"/>
                </a:lnTo>
                <a:lnTo>
                  <a:pt x="0" y="0"/>
                </a:lnTo>
                <a:close/>
              </a:path>
            </a:pathLst>
          </a:custGeom>
          <a:blipFill>
            <a:blip r:embed="rId3"/>
            <a:stretch>
              <a:fillRect/>
            </a:stretch>
          </a:blipFill>
        </p:spPr>
      </p:sp>
      <p:sp>
        <p:nvSpPr>
          <p:cNvPr id="5" name="TextBox 5"/>
          <p:cNvSpPr txBox="1"/>
          <p:nvPr/>
        </p:nvSpPr>
        <p:spPr>
          <a:xfrm>
            <a:off x="1837522" y="5896943"/>
            <a:ext cx="5626275" cy="13629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Above is direct correlation between salary and the balance of the customers.</a:t>
            </a:r>
          </a:p>
        </p:txBody>
      </p:sp>
      <p:sp>
        <p:nvSpPr>
          <p:cNvPr id="6" name="TextBox 6"/>
          <p:cNvSpPr txBox="1"/>
          <p:nvPr/>
        </p:nvSpPr>
        <p:spPr>
          <a:xfrm>
            <a:off x="10558575" y="5896943"/>
            <a:ext cx="5726931" cy="13629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Above is correlation between salary and the balance of the customers who have exited.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AutoShape 2"/>
          <p:cNvSpPr/>
          <p:nvPr/>
        </p:nvSpPr>
        <p:spPr>
          <a:xfrm flipV="1">
            <a:off x="9144000" y="1897380"/>
            <a:ext cx="0" cy="7360920"/>
          </a:xfrm>
          <a:prstGeom prst="line">
            <a:avLst/>
          </a:prstGeom>
          <a:ln w="38100" cap="flat">
            <a:solidFill>
              <a:srgbClr val="FFFDF6"/>
            </a:solidFill>
            <a:prstDash val="solid"/>
            <a:headEnd type="none" w="sm" len="sm"/>
            <a:tailEnd type="none" w="sm" len="sm"/>
          </a:ln>
        </p:spPr>
      </p:sp>
      <p:sp>
        <p:nvSpPr>
          <p:cNvPr id="3" name="Freeform 3"/>
          <p:cNvSpPr/>
          <p:nvPr/>
        </p:nvSpPr>
        <p:spPr>
          <a:xfrm>
            <a:off x="1261220" y="1127923"/>
            <a:ext cx="6777880" cy="3947927"/>
          </a:xfrm>
          <a:custGeom>
            <a:avLst/>
            <a:gdLst/>
            <a:ahLst/>
            <a:cxnLst/>
            <a:rect l="l" t="t" r="r" b="b"/>
            <a:pathLst>
              <a:path w="6777880" h="3947927">
                <a:moveTo>
                  <a:pt x="0" y="0"/>
                </a:moveTo>
                <a:lnTo>
                  <a:pt x="6777880" y="0"/>
                </a:lnTo>
                <a:lnTo>
                  <a:pt x="6777880" y="3947928"/>
                </a:lnTo>
                <a:lnTo>
                  <a:pt x="0" y="3947928"/>
                </a:lnTo>
                <a:lnTo>
                  <a:pt x="0" y="0"/>
                </a:lnTo>
                <a:close/>
              </a:path>
            </a:pathLst>
          </a:custGeom>
          <a:blipFill>
            <a:blip r:embed="rId2"/>
            <a:stretch>
              <a:fillRect r="-14"/>
            </a:stretch>
          </a:blipFill>
        </p:spPr>
      </p:sp>
      <p:sp>
        <p:nvSpPr>
          <p:cNvPr id="4" name="Freeform 4"/>
          <p:cNvSpPr/>
          <p:nvPr/>
        </p:nvSpPr>
        <p:spPr>
          <a:xfrm>
            <a:off x="10248900" y="1028700"/>
            <a:ext cx="6622611" cy="4047151"/>
          </a:xfrm>
          <a:custGeom>
            <a:avLst/>
            <a:gdLst/>
            <a:ahLst/>
            <a:cxnLst/>
            <a:rect l="l" t="t" r="r" b="b"/>
            <a:pathLst>
              <a:path w="6622611" h="4047151">
                <a:moveTo>
                  <a:pt x="0" y="0"/>
                </a:moveTo>
                <a:lnTo>
                  <a:pt x="6622611" y="0"/>
                </a:lnTo>
                <a:lnTo>
                  <a:pt x="6622611" y="4047151"/>
                </a:lnTo>
                <a:lnTo>
                  <a:pt x="0" y="4047151"/>
                </a:lnTo>
                <a:lnTo>
                  <a:pt x="0" y="0"/>
                </a:lnTo>
                <a:close/>
              </a:path>
            </a:pathLst>
          </a:custGeom>
          <a:blipFill>
            <a:blip r:embed="rId3"/>
            <a:stretch>
              <a:fillRect/>
            </a:stretch>
          </a:blipFill>
        </p:spPr>
      </p:sp>
      <p:sp>
        <p:nvSpPr>
          <p:cNvPr id="5" name="TextBox 5"/>
          <p:cNvSpPr txBox="1"/>
          <p:nvPr/>
        </p:nvSpPr>
        <p:spPr>
          <a:xfrm>
            <a:off x="1270983" y="5896943"/>
            <a:ext cx="6758354" cy="31917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We can see that total balance is largest for people who use only 1 product and least for people who use all four products.</a:t>
            </a:r>
          </a:p>
          <a:p>
            <a:pPr algn="just">
              <a:lnSpc>
                <a:spcPts val="3625"/>
              </a:lnSpc>
            </a:pPr>
            <a:r>
              <a:rPr lang="en-US" sz="2589">
                <a:solidFill>
                  <a:srgbClr val="FFFDF6"/>
                </a:solidFill>
                <a:latin typeface="Canva Sans"/>
              </a:rPr>
              <a:t>We can also see a huge difference between sum of balance of people who use  1 product and people who use 2 products.</a:t>
            </a:r>
          </a:p>
        </p:txBody>
      </p:sp>
      <p:sp>
        <p:nvSpPr>
          <p:cNvPr id="6" name="TextBox 6"/>
          <p:cNvSpPr txBox="1"/>
          <p:nvPr/>
        </p:nvSpPr>
        <p:spPr>
          <a:xfrm>
            <a:off x="9909206" y="5668343"/>
            <a:ext cx="7301998" cy="36489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From above chart we can see that most people (5084) uses only 1 product and least number of people (60) uses 4 products.</a:t>
            </a:r>
          </a:p>
          <a:p>
            <a:pPr algn="just">
              <a:lnSpc>
                <a:spcPts val="3625"/>
              </a:lnSpc>
            </a:pPr>
            <a:r>
              <a:rPr lang="en-US" sz="2589">
                <a:solidFill>
                  <a:srgbClr val="FFFDF6"/>
                </a:solidFill>
                <a:latin typeface="Canva Sans"/>
              </a:rPr>
              <a:t>We can also see that exit rate for 4 products is highest (100%). There is not much difference between number of customers using 1 product and 2 products but a huge difference in their sum of total balance.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9979872" y="3231292"/>
            <a:ext cx="7279428" cy="3824416"/>
          </a:xfrm>
          <a:custGeom>
            <a:avLst/>
            <a:gdLst/>
            <a:ahLst/>
            <a:cxnLst/>
            <a:rect l="l" t="t" r="r" b="b"/>
            <a:pathLst>
              <a:path w="7279428" h="3824416">
                <a:moveTo>
                  <a:pt x="0" y="0"/>
                </a:moveTo>
                <a:lnTo>
                  <a:pt x="7279428" y="0"/>
                </a:lnTo>
                <a:lnTo>
                  <a:pt x="7279428" y="3824416"/>
                </a:lnTo>
                <a:lnTo>
                  <a:pt x="0" y="3824416"/>
                </a:lnTo>
                <a:lnTo>
                  <a:pt x="0" y="0"/>
                </a:lnTo>
                <a:close/>
              </a:path>
            </a:pathLst>
          </a:custGeom>
          <a:blipFill>
            <a:blip r:embed="rId2"/>
            <a:stretch>
              <a:fillRect/>
            </a:stretch>
          </a:blipFill>
        </p:spPr>
      </p:sp>
      <p:sp>
        <p:nvSpPr>
          <p:cNvPr id="3" name="TextBox 3"/>
          <p:cNvSpPr txBox="1"/>
          <p:nvPr/>
        </p:nvSpPr>
        <p:spPr>
          <a:xfrm>
            <a:off x="1028700" y="3290443"/>
            <a:ext cx="6758354" cy="36489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Correlation between salary and Credit Score. A correlation coefficient of -0.00138 suggests a very weak negative correlation between salary and credit score. In practical terms, this indicates changes in one variable are not associated with consistent changes in the other variable in either direction.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345192" y="2496624"/>
            <a:ext cx="6914108" cy="4836552"/>
          </a:xfrm>
          <a:custGeom>
            <a:avLst/>
            <a:gdLst/>
            <a:ahLst/>
            <a:cxnLst/>
            <a:rect l="l" t="t" r="r" b="b"/>
            <a:pathLst>
              <a:path w="6914108" h="4836552">
                <a:moveTo>
                  <a:pt x="0" y="0"/>
                </a:moveTo>
                <a:lnTo>
                  <a:pt x="6914108" y="0"/>
                </a:lnTo>
                <a:lnTo>
                  <a:pt x="6914108" y="4836552"/>
                </a:lnTo>
                <a:lnTo>
                  <a:pt x="0" y="4836552"/>
                </a:lnTo>
                <a:lnTo>
                  <a:pt x="0" y="0"/>
                </a:lnTo>
                <a:close/>
              </a:path>
            </a:pathLst>
          </a:custGeom>
          <a:blipFill>
            <a:blip r:embed="rId2"/>
            <a:stretch>
              <a:fillRect/>
            </a:stretch>
          </a:blipFill>
        </p:spPr>
      </p:sp>
      <p:sp>
        <p:nvSpPr>
          <p:cNvPr id="3" name="TextBox 3"/>
          <p:cNvSpPr txBox="1"/>
          <p:nvPr/>
        </p:nvSpPr>
        <p:spPr>
          <a:xfrm>
            <a:off x="1028700" y="3290443"/>
            <a:ext cx="6758354" cy="31917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Customers who have credit cards are more likely to leave the bank than those who do not, according to the visual. This suggests that there may be a problem with credit card services. Therefore, it is advised to make specific changes in this area.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9917163" y="3030719"/>
            <a:ext cx="7342137" cy="4225561"/>
          </a:xfrm>
          <a:custGeom>
            <a:avLst/>
            <a:gdLst/>
            <a:ahLst/>
            <a:cxnLst/>
            <a:rect l="l" t="t" r="r" b="b"/>
            <a:pathLst>
              <a:path w="7342137" h="4225561">
                <a:moveTo>
                  <a:pt x="0" y="0"/>
                </a:moveTo>
                <a:lnTo>
                  <a:pt x="7342137" y="0"/>
                </a:lnTo>
                <a:lnTo>
                  <a:pt x="7342137" y="4225562"/>
                </a:lnTo>
                <a:lnTo>
                  <a:pt x="0" y="4225562"/>
                </a:lnTo>
                <a:lnTo>
                  <a:pt x="0" y="0"/>
                </a:lnTo>
                <a:close/>
              </a:path>
            </a:pathLst>
          </a:custGeom>
          <a:blipFill>
            <a:blip r:embed="rId2"/>
            <a:stretch>
              <a:fillRect t="-2833" b="-2833"/>
            </a:stretch>
          </a:blipFill>
        </p:spPr>
      </p:sp>
      <p:sp>
        <p:nvSpPr>
          <p:cNvPr id="3" name="TextBox 3"/>
          <p:cNvSpPr txBox="1"/>
          <p:nvPr/>
        </p:nvSpPr>
        <p:spPr>
          <a:xfrm>
            <a:off x="1028700" y="3976243"/>
            <a:ext cx="6758354" cy="22773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It is evident that the highest churn rates are seen among male and female customers in the 50+ age group; therefore, these customers pose the highest risk to the bank.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9842363" y="3899875"/>
            <a:ext cx="7416937" cy="2487251"/>
          </a:xfrm>
          <a:custGeom>
            <a:avLst/>
            <a:gdLst/>
            <a:ahLst/>
            <a:cxnLst/>
            <a:rect l="l" t="t" r="r" b="b"/>
            <a:pathLst>
              <a:path w="7416937" h="2487251">
                <a:moveTo>
                  <a:pt x="0" y="0"/>
                </a:moveTo>
                <a:lnTo>
                  <a:pt x="7416937" y="0"/>
                </a:lnTo>
                <a:lnTo>
                  <a:pt x="7416937" y="2487250"/>
                </a:lnTo>
                <a:lnTo>
                  <a:pt x="0" y="2487250"/>
                </a:lnTo>
                <a:lnTo>
                  <a:pt x="0" y="0"/>
                </a:lnTo>
                <a:close/>
              </a:path>
            </a:pathLst>
          </a:custGeom>
          <a:blipFill>
            <a:blip r:embed="rId2"/>
            <a:stretch>
              <a:fillRect/>
            </a:stretch>
          </a:blipFill>
        </p:spPr>
      </p:sp>
      <p:sp>
        <p:nvSpPr>
          <p:cNvPr id="3" name="TextBox 3"/>
          <p:cNvSpPr txBox="1"/>
          <p:nvPr/>
        </p:nvSpPr>
        <p:spPr>
          <a:xfrm>
            <a:off x="1028700" y="3519043"/>
            <a:ext cx="6758354" cy="31917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As we can see average salary of female customers is a bit higher than male     customers, but number of active accounts are lower than male customers. This suggests that active account and average salary on basis of gender are slightly negatively correlated.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Freeform 2"/>
          <p:cNvSpPr/>
          <p:nvPr/>
        </p:nvSpPr>
        <p:spPr>
          <a:xfrm>
            <a:off x="10645221" y="4187894"/>
            <a:ext cx="6614079" cy="1911211"/>
          </a:xfrm>
          <a:custGeom>
            <a:avLst/>
            <a:gdLst/>
            <a:ahLst/>
            <a:cxnLst/>
            <a:rect l="l" t="t" r="r" b="b"/>
            <a:pathLst>
              <a:path w="6614079" h="1911211">
                <a:moveTo>
                  <a:pt x="0" y="0"/>
                </a:moveTo>
                <a:lnTo>
                  <a:pt x="6614079" y="0"/>
                </a:lnTo>
                <a:lnTo>
                  <a:pt x="6614079" y="1911212"/>
                </a:lnTo>
                <a:lnTo>
                  <a:pt x="0" y="1911212"/>
                </a:lnTo>
                <a:lnTo>
                  <a:pt x="0" y="0"/>
                </a:lnTo>
                <a:close/>
              </a:path>
            </a:pathLst>
          </a:custGeom>
          <a:blipFill>
            <a:blip r:embed="rId2"/>
            <a:stretch>
              <a:fillRect/>
            </a:stretch>
          </a:blipFill>
        </p:spPr>
      </p:sp>
      <p:sp>
        <p:nvSpPr>
          <p:cNvPr id="3" name="TextBox 3"/>
          <p:cNvSpPr txBox="1"/>
          <p:nvPr/>
        </p:nvSpPr>
        <p:spPr>
          <a:xfrm>
            <a:off x="1028700" y="3747643"/>
            <a:ext cx="6758354" cy="2734564"/>
          </a:xfrm>
          <a:prstGeom prst="rect">
            <a:avLst/>
          </a:prstGeom>
        </p:spPr>
        <p:txBody>
          <a:bodyPr lIns="0" tIns="0" rIns="0" bIns="0" rtlCol="0" anchor="t">
            <a:spAutoFit/>
          </a:bodyPr>
          <a:lstStyle/>
          <a:p>
            <a:pPr algn="just">
              <a:lnSpc>
                <a:spcPts val="3625"/>
              </a:lnSpc>
            </a:pPr>
            <a:r>
              <a:rPr lang="en-US" sz="2589">
                <a:solidFill>
                  <a:srgbClr val="FFFDF6"/>
                </a:solidFill>
                <a:latin typeface="Canva Sans"/>
              </a:rPr>
              <a:t>We can see that customers who have retained with the bank has higher average credit score compared to customers who have exited. Higher credit ratings may reflect more satisfaction with the bank's goods and services.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a:off x="2282911" y="1946000"/>
            <a:ext cx="13722178" cy="7795890"/>
          </a:xfrm>
          <a:custGeom>
            <a:avLst/>
            <a:gdLst/>
            <a:ahLst/>
            <a:cxnLst/>
            <a:rect l="l" t="t" r="r" b="b"/>
            <a:pathLst>
              <a:path w="13722178" h="7795890">
                <a:moveTo>
                  <a:pt x="0" y="0"/>
                </a:moveTo>
                <a:lnTo>
                  <a:pt x="13722178" y="0"/>
                </a:lnTo>
                <a:lnTo>
                  <a:pt x="13722178" y="7795891"/>
                </a:lnTo>
                <a:lnTo>
                  <a:pt x="0" y="7795891"/>
                </a:lnTo>
                <a:lnTo>
                  <a:pt x="0" y="0"/>
                </a:lnTo>
                <a:close/>
              </a:path>
            </a:pathLst>
          </a:custGeom>
          <a:blipFill>
            <a:blip r:embed="rId2"/>
            <a:stretch>
              <a:fillRect/>
            </a:stretch>
          </a:blipFill>
        </p:spPr>
      </p:sp>
      <p:sp>
        <p:nvSpPr>
          <p:cNvPr id="3" name="TextBox 3"/>
          <p:cNvSpPr txBox="1"/>
          <p:nvPr/>
        </p:nvSpPr>
        <p:spPr>
          <a:xfrm>
            <a:off x="4157188" y="428625"/>
            <a:ext cx="9973624" cy="1200150"/>
          </a:xfrm>
          <a:prstGeom prst="rect">
            <a:avLst/>
          </a:prstGeom>
        </p:spPr>
        <p:txBody>
          <a:bodyPr lIns="0" tIns="0" rIns="0" bIns="0" rtlCol="0" anchor="t">
            <a:spAutoFit/>
          </a:bodyPr>
          <a:lstStyle/>
          <a:p>
            <a:pPr>
              <a:lnSpc>
                <a:spcPts val="9480"/>
              </a:lnSpc>
            </a:pPr>
            <a:r>
              <a:rPr lang="en-US" sz="7900">
                <a:solidFill>
                  <a:srgbClr val="292929"/>
                </a:solidFill>
                <a:latin typeface="DM Sans Bold"/>
              </a:rPr>
              <a:t>Dashboard Snippets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a:off x="1955805" y="1028700"/>
            <a:ext cx="14376390" cy="8204521"/>
          </a:xfrm>
          <a:custGeom>
            <a:avLst/>
            <a:gdLst/>
            <a:ahLst/>
            <a:cxnLst/>
            <a:rect l="l" t="t" r="r" b="b"/>
            <a:pathLst>
              <a:path w="14376390" h="8204521">
                <a:moveTo>
                  <a:pt x="0" y="0"/>
                </a:moveTo>
                <a:lnTo>
                  <a:pt x="14376390" y="0"/>
                </a:lnTo>
                <a:lnTo>
                  <a:pt x="14376390" y="8204521"/>
                </a:lnTo>
                <a:lnTo>
                  <a:pt x="0" y="8204521"/>
                </a:lnTo>
                <a:lnTo>
                  <a:pt x="0" y="0"/>
                </a:lnTo>
                <a:close/>
              </a:path>
            </a:pathLst>
          </a:custGeom>
          <a:blipFill>
            <a:blip r:embed="rId2"/>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EAD2"/>
        </a:solidFill>
        <a:effectLst/>
      </p:bgPr>
    </p:bg>
    <p:spTree>
      <p:nvGrpSpPr>
        <p:cNvPr id="1" name=""/>
        <p:cNvGrpSpPr/>
        <p:nvPr/>
      </p:nvGrpSpPr>
      <p:grpSpPr>
        <a:xfrm>
          <a:off x="0" y="0"/>
          <a:ext cx="0" cy="0"/>
          <a:chOff x="0" y="0"/>
          <a:chExt cx="0" cy="0"/>
        </a:xfrm>
      </p:grpSpPr>
      <p:sp>
        <p:nvSpPr>
          <p:cNvPr id="2" name="Freeform 2"/>
          <p:cNvSpPr/>
          <p:nvPr/>
        </p:nvSpPr>
        <p:spPr>
          <a:xfrm>
            <a:off x="1905918" y="1028700"/>
            <a:ext cx="14476164" cy="8229600"/>
          </a:xfrm>
          <a:custGeom>
            <a:avLst/>
            <a:gdLst/>
            <a:ahLst/>
            <a:cxnLst/>
            <a:rect l="l" t="t" r="r" b="b"/>
            <a:pathLst>
              <a:path w="14476164" h="8229600">
                <a:moveTo>
                  <a:pt x="0" y="0"/>
                </a:moveTo>
                <a:lnTo>
                  <a:pt x="14476164" y="0"/>
                </a:lnTo>
                <a:lnTo>
                  <a:pt x="14476164" y="8229600"/>
                </a:lnTo>
                <a:lnTo>
                  <a:pt x="0" y="8229600"/>
                </a:lnTo>
                <a:lnTo>
                  <a:pt x="0" y="0"/>
                </a:lnTo>
                <a:close/>
              </a:path>
            </a:pathLst>
          </a:custGeom>
          <a:blipFill>
            <a:blip r:embed="rId2"/>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4498114" y="409575"/>
            <a:ext cx="9291772" cy="1228725"/>
          </a:xfrm>
          <a:prstGeom prst="rect">
            <a:avLst/>
          </a:prstGeom>
        </p:spPr>
        <p:txBody>
          <a:bodyPr lIns="0" tIns="0" rIns="0" bIns="0" rtlCol="0" anchor="t">
            <a:spAutoFit/>
          </a:bodyPr>
          <a:lstStyle/>
          <a:p>
            <a:pPr>
              <a:lnSpc>
                <a:spcPts val="9600"/>
              </a:lnSpc>
            </a:pPr>
            <a:r>
              <a:rPr lang="en-US" sz="8000">
                <a:solidFill>
                  <a:srgbClr val="FFEAD2"/>
                </a:solidFill>
                <a:latin typeface="DM Sans Bold"/>
              </a:rPr>
              <a:t>Challenges Faced</a:t>
            </a:r>
          </a:p>
        </p:txBody>
      </p:sp>
      <p:sp>
        <p:nvSpPr>
          <p:cNvPr id="3" name="TextBox 3"/>
          <p:cNvSpPr txBox="1"/>
          <p:nvPr/>
        </p:nvSpPr>
        <p:spPr>
          <a:xfrm>
            <a:off x="472535" y="2259979"/>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Limited Data Availability</a:t>
            </a:r>
            <a:r>
              <a:rPr lang="en-US" sz="3000">
                <a:solidFill>
                  <a:srgbClr val="FFFFFF"/>
                </a:solidFill>
                <a:latin typeface="Canva Sans"/>
              </a:rPr>
              <a:t>: Obtaining comprehensive datasets for analysis proved challenging, since several crucial variables were absent, which limited the breadth of insights that could be obtained. </a:t>
            </a:r>
          </a:p>
        </p:txBody>
      </p:sp>
      <p:sp>
        <p:nvSpPr>
          <p:cNvPr id="4" name="TextBox 4"/>
          <p:cNvSpPr txBox="1"/>
          <p:nvPr/>
        </p:nvSpPr>
        <p:spPr>
          <a:xfrm>
            <a:off x="472535" y="4258516"/>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Technical Restrictions</a:t>
            </a:r>
            <a:r>
              <a:rPr lang="en-US" sz="3000">
                <a:solidFill>
                  <a:srgbClr val="FFFFFF"/>
                </a:solidFill>
                <a:latin typeface="Canva Sans"/>
              </a:rPr>
              <a:t>: Due to the limitations of the technologies at hand, it was difficult to carry out intricate analyses or put sophisticated machine learning algorithms into practice.</a:t>
            </a:r>
          </a:p>
        </p:txBody>
      </p:sp>
      <p:sp>
        <p:nvSpPr>
          <p:cNvPr id="5" name="TextBox 5"/>
          <p:cNvSpPr txBox="1"/>
          <p:nvPr/>
        </p:nvSpPr>
        <p:spPr>
          <a:xfrm>
            <a:off x="472535" y="6257053"/>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Complexity of Analysis</a:t>
            </a:r>
            <a:r>
              <a:rPr lang="en-US" sz="3000">
                <a:solidFill>
                  <a:srgbClr val="FFFFFF"/>
                </a:solidFill>
                <a:latin typeface="Canva Sans"/>
              </a:rPr>
              <a:t>: Understanding complex connections and trends in the data was necessary for analyzing customer behavior and forecasting churn, which called for advanced analytical techniques and cautious result interpretation.</a:t>
            </a:r>
          </a:p>
        </p:txBody>
      </p:sp>
      <p:sp>
        <p:nvSpPr>
          <p:cNvPr id="6" name="TextBox 6"/>
          <p:cNvSpPr txBox="1"/>
          <p:nvPr/>
        </p:nvSpPr>
        <p:spPr>
          <a:xfrm>
            <a:off x="472535" y="8257303"/>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Overcoming Obstacles</a:t>
            </a:r>
            <a:r>
              <a:rPr lang="en-US" sz="3000">
                <a:solidFill>
                  <a:srgbClr val="FFFFFF"/>
                </a:solidFill>
                <a:latin typeface="Canva Sans"/>
              </a:rPr>
              <a:t>: Overcoming these obstacles required using iterative problem-solving strategies, making the most of the resources at hand, and cultivating a resilient and adaptive attitude to deal with uncertainty.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92929"/>
        </a:solidFill>
        <a:effectLst/>
      </p:bgPr>
    </p:bg>
    <p:spTree>
      <p:nvGrpSpPr>
        <p:cNvPr id="1" name=""/>
        <p:cNvGrpSpPr/>
        <p:nvPr/>
      </p:nvGrpSpPr>
      <p:grpSpPr>
        <a:xfrm>
          <a:off x="0" y="0"/>
          <a:ext cx="0" cy="0"/>
          <a:chOff x="0" y="0"/>
          <a:chExt cx="0" cy="0"/>
        </a:xfrm>
      </p:grpSpPr>
      <p:sp>
        <p:nvSpPr>
          <p:cNvPr id="2" name="TextBox 2"/>
          <p:cNvSpPr txBox="1"/>
          <p:nvPr/>
        </p:nvSpPr>
        <p:spPr>
          <a:xfrm>
            <a:off x="6380811" y="237302"/>
            <a:ext cx="5526378" cy="1228725"/>
          </a:xfrm>
          <a:prstGeom prst="rect">
            <a:avLst/>
          </a:prstGeom>
        </p:spPr>
        <p:txBody>
          <a:bodyPr lIns="0" tIns="0" rIns="0" bIns="0" rtlCol="0" anchor="t">
            <a:spAutoFit/>
          </a:bodyPr>
          <a:lstStyle/>
          <a:p>
            <a:pPr>
              <a:lnSpc>
                <a:spcPts val="9600"/>
              </a:lnSpc>
            </a:pPr>
            <a:r>
              <a:rPr lang="en-US" sz="8000">
                <a:solidFill>
                  <a:srgbClr val="FFEAD2"/>
                </a:solidFill>
                <a:latin typeface="DM Sans Bold"/>
              </a:rPr>
              <a:t>Conclusion</a:t>
            </a:r>
          </a:p>
        </p:txBody>
      </p:sp>
      <p:sp>
        <p:nvSpPr>
          <p:cNvPr id="3" name="TextBox 3"/>
          <p:cNvSpPr txBox="1"/>
          <p:nvPr/>
        </p:nvSpPr>
        <p:spPr>
          <a:xfrm>
            <a:off x="472535" y="1816992"/>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Customer Growth and Churn Rate Trends</a:t>
            </a:r>
            <a:r>
              <a:rPr lang="en-US" sz="3000">
                <a:solidFill>
                  <a:srgbClr val="FFFFFF"/>
                </a:solidFill>
                <a:latin typeface="Canva Sans"/>
              </a:rPr>
              <a:t>: Customer numbers have risen yearly, peaking in 2019, while churn rates hit a high in 2017 but declined thereafter, suggesting improved retention efforts.</a:t>
            </a:r>
          </a:p>
        </p:txBody>
      </p:sp>
      <p:sp>
        <p:nvSpPr>
          <p:cNvPr id="4" name="TextBox 4"/>
          <p:cNvSpPr txBox="1"/>
          <p:nvPr/>
        </p:nvSpPr>
        <p:spPr>
          <a:xfrm>
            <a:off x="472535" y="3750566"/>
            <a:ext cx="16786765" cy="10477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Geographical Insights</a:t>
            </a:r>
            <a:r>
              <a:rPr lang="en-US" sz="3000">
                <a:solidFill>
                  <a:srgbClr val="FFFFFF"/>
                </a:solidFill>
                <a:latin typeface="Canva Sans"/>
              </a:rPr>
              <a:t>: Germany has the highest churn rate, while France boasts the most customers, underlining regional differences in customer behavior.</a:t>
            </a:r>
          </a:p>
        </p:txBody>
      </p:sp>
      <p:sp>
        <p:nvSpPr>
          <p:cNvPr id="5" name="TextBox 5"/>
          <p:cNvSpPr txBox="1"/>
          <p:nvPr/>
        </p:nvSpPr>
        <p:spPr>
          <a:xfrm>
            <a:off x="472535" y="5150741"/>
            <a:ext cx="16786765" cy="10477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Credit Card Ownership Trends</a:t>
            </a:r>
            <a:r>
              <a:rPr lang="en-US" sz="3000">
                <a:solidFill>
                  <a:srgbClr val="FFFFFF"/>
                </a:solidFill>
                <a:latin typeface="Canva Sans"/>
              </a:rPr>
              <a:t>: Credit card ownership is highest among 30-50-year-olds, with notable variations across age groups, necessitating targeted strategies.</a:t>
            </a:r>
          </a:p>
        </p:txBody>
      </p:sp>
      <p:sp>
        <p:nvSpPr>
          <p:cNvPr id="6" name="TextBox 6"/>
          <p:cNvSpPr txBox="1"/>
          <p:nvPr/>
        </p:nvSpPr>
        <p:spPr>
          <a:xfrm>
            <a:off x="472535" y="6550916"/>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Correlation Analysis</a:t>
            </a:r>
            <a:r>
              <a:rPr lang="en-US" sz="3000">
                <a:solidFill>
                  <a:srgbClr val="FFFFFF"/>
                </a:solidFill>
                <a:latin typeface="Canva Sans"/>
              </a:rPr>
              <a:t>: A slight correlation exists between salary and customer balance, with slightly higher balances among churned customers. No significant correlation exists between salary and credit score.</a:t>
            </a:r>
          </a:p>
        </p:txBody>
      </p:sp>
      <p:sp>
        <p:nvSpPr>
          <p:cNvPr id="7" name="TextBox 7"/>
          <p:cNvSpPr txBox="1"/>
          <p:nvPr/>
        </p:nvSpPr>
        <p:spPr>
          <a:xfrm>
            <a:off x="472535" y="8484491"/>
            <a:ext cx="16786765" cy="1581150"/>
          </a:xfrm>
          <a:prstGeom prst="rect">
            <a:avLst/>
          </a:prstGeom>
        </p:spPr>
        <p:txBody>
          <a:bodyPr lIns="0" tIns="0" rIns="0" bIns="0" rtlCol="0" anchor="t">
            <a:spAutoFit/>
          </a:bodyPr>
          <a:lstStyle/>
          <a:p>
            <a:pPr marL="647702" lvl="1" indent="-323851" algn="just">
              <a:lnSpc>
                <a:spcPts val="4200"/>
              </a:lnSpc>
              <a:buFont typeface="Arial"/>
              <a:buChar char="•"/>
            </a:pPr>
            <a:r>
              <a:rPr lang="en-US" sz="3000">
                <a:solidFill>
                  <a:srgbClr val="FFFFFF"/>
                </a:solidFill>
                <a:latin typeface="Canva Sans Bold"/>
              </a:rPr>
              <a:t>Gender-Based Analysis</a:t>
            </a:r>
            <a:r>
              <a:rPr lang="en-US" sz="3000">
                <a:solidFill>
                  <a:srgbClr val="FFFFFF"/>
                </a:solidFill>
                <a:latin typeface="Canva Sans"/>
              </a:rPr>
              <a:t>: Female customers have slightly higher average salaries but fewer active accounts compared to males, suggesting a negative correlation between gender, active accounts, and salary.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DF6"/>
        </a:solidFill>
        <a:effectLst/>
      </p:bgPr>
    </p:bg>
    <p:spTree>
      <p:nvGrpSpPr>
        <p:cNvPr id="1" name=""/>
        <p:cNvGrpSpPr/>
        <p:nvPr/>
      </p:nvGrpSpPr>
      <p:grpSpPr>
        <a:xfrm>
          <a:off x="0" y="0"/>
          <a:ext cx="0" cy="0"/>
          <a:chOff x="0" y="0"/>
          <a:chExt cx="0" cy="0"/>
        </a:xfrm>
      </p:grpSpPr>
      <p:sp>
        <p:nvSpPr>
          <p:cNvPr id="2" name="Freeform 2"/>
          <p:cNvSpPr/>
          <p:nvPr/>
        </p:nvSpPr>
        <p:spPr>
          <a:xfrm>
            <a:off x="0" y="0"/>
            <a:ext cx="4994615" cy="10287000"/>
          </a:xfrm>
          <a:custGeom>
            <a:avLst/>
            <a:gdLst/>
            <a:ahLst/>
            <a:cxnLst/>
            <a:rect l="l" t="t" r="r" b="b"/>
            <a:pathLst>
              <a:path w="4994615" h="10287000">
                <a:moveTo>
                  <a:pt x="0" y="0"/>
                </a:moveTo>
                <a:lnTo>
                  <a:pt x="4994615" y="0"/>
                </a:lnTo>
                <a:lnTo>
                  <a:pt x="4994615" y="10287000"/>
                </a:lnTo>
                <a:lnTo>
                  <a:pt x="0" y="10287000"/>
                </a:lnTo>
                <a:lnTo>
                  <a:pt x="0" y="0"/>
                </a:lnTo>
                <a:close/>
              </a:path>
            </a:pathLst>
          </a:custGeom>
          <a:blipFill>
            <a:blip r:embed="rId2"/>
            <a:stretch>
              <a:fillRect l="-18653" r="-18653"/>
            </a:stretch>
          </a:blipFill>
        </p:spPr>
      </p:sp>
      <p:sp>
        <p:nvSpPr>
          <p:cNvPr id="3" name="Freeform 3"/>
          <p:cNvSpPr/>
          <p:nvPr/>
        </p:nvSpPr>
        <p:spPr>
          <a:xfrm>
            <a:off x="8194832" y="1028700"/>
            <a:ext cx="7509510" cy="8229600"/>
          </a:xfrm>
          <a:custGeom>
            <a:avLst/>
            <a:gdLst/>
            <a:ahLst/>
            <a:cxnLst/>
            <a:rect l="l" t="t" r="r" b="b"/>
            <a:pathLst>
              <a:path w="7509510" h="8229600">
                <a:moveTo>
                  <a:pt x="0" y="0"/>
                </a:moveTo>
                <a:lnTo>
                  <a:pt x="7509510" y="0"/>
                </a:lnTo>
                <a:lnTo>
                  <a:pt x="7509510" y="8229600"/>
                </a:lnTo>
                <a:lnTo>
                  <a:pt x="0" y="8229600"/>
                </a:lnTo>
                <a:lnTo>
                  <a:pt x="0" y="0"/>
                </a:lnTo>
                <a:close/>
              </a:path>
            </a:pathLst>
          </a:custGeom>
          <a:blipFill>
            <a:blip r:embed="rId3"/>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1062</Words>
  <Application>Microsoft Office PowerPoint</Application>
  <PresentationFormat>Custom</PresentationFormat>
  <Paragraphs>65</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Calibri</vt:lpstr>
      <vt:lpstr>Canva Sans Bold</vt:lpstr>
      <vt:lpstr>Canva Sans</vt:lpstr>
      <vt:lpstr>Arial</vt:lpstr>
      <vt:lpstr>DM Sans 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Crm</dc:title>
  <dc:creator>Admin</dc:creator>
  <cp:lastModifiedBy>AKSHATHA MC</cp:lastModifiedBy>
  <cp:revision>3</cp:revision>
  <dcterms:created xsi:type="dcterms:W3CDTF">2006-08-16T00:00:00Z</dcterms:created>
  <dcterms:modified xsi:type="dcterms:W3CDTF">2025-04-14T09:49:43Z</dcterms:modified>
  <dc:identifier>DAGCyL79BjQ</dc:identifier>
</cp:coreProperties>
</file>